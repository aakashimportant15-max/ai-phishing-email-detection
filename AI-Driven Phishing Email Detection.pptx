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66" r:id="rId4"/>
    <p:sldId id="267" r:id="rId5"/>
    <p:sldId id="269" r:id="rId6"/>
    <p:sldId id="268" r:id="rId7"/>
    <p:sldId id="270" r:id="rId8"/>
    <p:sldId id="272" r:id="rId9"/>
    <p:sldId id="273" r:id="rId10"/>
    <p:sldId id="274" r:id="rId11"/>
    <p:sldId id="275" r:id="rId12"/>
    <p:sldId id="262" r:id="rId13"/>
    <p:sldId id="276" r:id="rId14"/>
    <p:sldId id="27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758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0DD6B-6368-FD37-FFFE-F74A03FD2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F1D30-606C-1B84-5DE1-71925A2B8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C94AB-832A-0CA4-163C-F1DBDE10D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1F8C9-75F0-84D5-61DB-D822AC0688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91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CF130-53E9-634E-1BAC-CA84742ED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2F22D-EC8D-653C-E2F1-5924874C1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F0D7D-AA36-1737-94AC-988032C17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E27D3-3ADE-B927-BC91-45E9E86DD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07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D1CA-D48C-8A44-2A9C-2A620B8DB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82D3-D568-5FCE-4050-AFB02039C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FC750-0DF6-84D8-048C-129C62948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6F0EA2-3CA2-0E58-5A84-4FFBF79D2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DE21E-3C48-14F3-7029-B74B46E80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8A8AB-7D3B-5EDE-8801-5DE6F2E3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C2C44-8355-4895-A382-443C793F46F4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78C98-0E63-86B6-9059-4B851F98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6ECED-A326-BF96-ED6E-330004C4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90E-B9F8-4A06-844D-0C0E0C1E5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84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3419506E-DA2B-FD04-EB61-6793F56D3F3C}"/>
              </a:ext>
            </a:extLst>
          </p:cNvPr>
          <p:cNvPicPr/>
          <p:nvPr/>
        </p:nvPicPr>
        <p:blipFill>
          <a:blip r:embed="rId3" cstate="print">
            <a:alphaModFix amt="20000"/>
          </a:blip>
          <a:stretch>
            <a:fillRect/>
          </a:stretch>
        </p:blipFill>
        <p:spPr>
          <a:xfrm>
            <a:off x="3423232" y="1257429"/>
            <a:ext cx="4987924" cy="45824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4318" y="246888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600" b="1" dirty="0">
                <a:latin typeface="Aptos" panose="020B0004020202020204" pitchFamily="34" charset="0"/>
              </a:rPr>
              <a:t>AI-Driven Phishing Email Detection Using NLP (Natural Language Processing)</a:t>
            </a:r>
            <a:endParaRPr lang="en-US" sz="3600" b="1" dirty="0">
              <a:solidFill>
                <a:srgbClr val="00206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94318" y="3695079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400" b="1" dirty="0">
                <a:solidFill>
                  <a:srgbClr val="0070C0"/>
                </a:solidFill>
                <a:latin typeface="Aptos" panose="020B0004020202020204" pitchFamily="34" charset="0"/>
              </a:rPr>
              <a:t>Machine Learning | Text Classification</a:t>
            </a:r>
            <a:endParaRPr lang="en-US" sz="24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849360" y="4224733"/>
            <a:ext cx="2946400" cy="2228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Presented By 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Student Name :    </a:t>
            </a:r>
            <a:r>
              <a:rPr lang="en-US" b="1" u="sng" dirty="0"/>
              <a:t>Aakash</a:t>
            </a:r>
            <a:br>
              <a:rPr lang="en-US" dirty="0"/>
            </a:br>
            <a:r>
              <a:rPr lang="en-US" dirty="0"/>
              <a:t>Institute Name:    </a:t>
            </a:r>
            <a:r>
              <a:rPr lang="en-US" b="1" u="sng" dirty="0"/>
              <a:t>VIPS-TC</a:t>
            </a:r>
            <a:br>
              <a:rPr lang="en-US" u="sng" dirty="0"/>
            </a:br>
            <a:r>
              <a:rPr lang="en-US" dirty="0"/>
              <a:t>Institute Roll no.:</a:t>
            </a:r>
            <a:r>
              <a:rPr lang="en-US" b="1" dirty="0"/>
              <a:t> </a:t>
            </a:r>
            <a:r>
              <a:rPr lang="en-US" b="1" u="sng" dirty="0"/>
              <a:t>04517702723 </a:t>
            </a:r>
            <a:r>
              <a:rPr lang="en-US" dirty="0"/>
              <a:t>Enrollment no.:    </a:t>
            </a:r>
            <a:r>
              <a:rPr lang="en-US" b="1" u="sng" dirty="0"/>
              <a:t>775314</a:t>
            </a:r>
          </a:p>
          <a:p>
            <a:pPr algn="ctr">
              <a:lnSpc>
                <a:spcPct val="150000"/>
              </a:lnSpc>
            </a:pP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F9E56650-BC93-350B-D144-E5C8D662720F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60547" y="182880"/>
            <a:ext cx="7313295" cy="1397000"/>
          </a:xfrm>
          <a:prstGeom prst="rect">
            <a:avLst/>
          </a:prstGeom>
        </p:spPr>
      </p:pic>
      <p:pic>
        <p:nvPicPr>
          <p:cNvPr id="9" name="Image 4">
            <a:extLst>
              <a:ext uri="{FF2B5EF4-FFF2-40B4-BE49-F238E27FC236}">
                <a16:creationId xmlns:a16="http://schemas.microsoft.com/office/drawing/2014/main" id="{52BEA8AB-7B77-8EB4-6D8F-DE489F902A9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6B6F-9745-751C-37B2-995AFE18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Problem Statement &amp; Project Objective</a:t>
            </a:r>
          </a:p>
        </p:txBody>
      </p:sp>
      <p:pic>
        <p:nvPicPr>
          <p:cNvPr id="13" name="Image 4">
            <a:extLst>
              <a:ext uri="{FF2B5EF4-FFF2-40B4-BE49-F238E27FC236}">
                <a16:creationId xmlns:a16="http://schemas.microsoft.com/office/drawing/2014/main" id="{F82CF232-D277-0EA8-D1E0-92AED9A0EB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  <p:pic>
        <p:nvPicPr>
          <p:cNvPr id="20" name="Image 4">
            <a:extLst>
              <a:ext uri="{FF2B5EF4-FFF2-40B4-BE49-F238E27FC236}">
                <a16:creationId xmlns:a16="http://schemas.microsoft.com/office/drawing/2014/main" id="{9A3F2787-B68A-3261-7E66-2258CD68CAA5}"/>
              </a:ext>
            </a:extLst>
          </p:cNvPr>
          <p:cNvPicPr/>
          <p:nvPr/>
        </p:nvPicPr>
        <p:blipFill>
          <a:blip r:embed="rId3" cstate="print">
            <a:alphaModFix amt="5000"/>
          </a:blip>
          <a:stretch>
            <a:fillRect/>
          </a:stretch>
        </p:blipFill>
        <p:spPr>
          <a:xfrm>
            <a:off x="3602038" y="1137764"/>
            <a:ext cx="4987924" cy="4582471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8385AF3-9182-F36D-8817-A321A1DC2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38459" y="1137764"/>
            <a:ext cx="3842731" cy="2908461"/>
          </a:xfrm>
        </p:spPr>
        <p:txBody>
          <a:bodyPr/>
          <a:lstStyle/>
          <a:p>
            <a:pPr marL="0" indent="0">
              <a:buNone/>
            </a:pPr>
            <a:r>
              <a:rPr lang="en-IN" u="sng" dirty="0"/>
              <a:t>Why It Is Important 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Email Communication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Cyber Security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Phishing Attacks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AI Detection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776E74FD-A645-AE71-5CCF-93C1AF65673A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2EEFEA-CDF8-1D56-FCBE-A9073C4A6AA5}"/>
              </a:ext>
            </a:extLst>
          </p:cNvPr>
          <p:cNvSpPr/>
          <p:nvPr/>
        </p:nvSpPr>
        <p:spPr>
          <a:xfrm>
            <a:off x="839788" y="4982995"/>
            <a:ext cx="10226084" cy="1338412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Project Objective</a:t>
            </a:r>
          </a:p>
          <a:p>
            <a:pPr algn="just"/>
            <a:r>
              <a:rPr lang="en-IN" dirty="0">
                <a:solidFill>
                  <a:schemeClr val="tx1"/>
                </a:solidFill>
              </a:rPr>
              <a:t>Build a Machine Learning model that automatically classifies emails as Legitimate (Ham) or Phishing (Spam) using NLP and compare different ML models to find the best performer. 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3B6122A6-51F3-4250-8207-67802A11E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919493"/>
            <a:ext cx="5157787" cy="398211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u="sng" dirty="0"/>
              <a:t>Problem Statement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Millions of emails are sent every day.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 Some emails are phishing , or spam.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Manual email checking is difficult and time-consuming.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An AI system is needed to automatically detect phishing emails.</a:t>
            </a:r>
          </a:p>
        </p:txBody>
      </p:sp>
    </p:spTree>
    <p:extLst>
      <p:ext uri="{BB962C8B-B14F-4D97-AF65-F5344CB8AC3E}">
        <p14:creationId xmlns:p14="http://schemas.microsoft.com/office/powerpoint/2010/main" val="402367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6145C-84F3-51E2-31E4-FF03852D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C4CDB-763F-79DF-7614-10800370C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Dataset Overview</a:t>
            </a:r>
          </a:p>
        </p:txBody>
      </p:sp>
      <p:pic>
        <p:nvPicPr>
          <p:cNvPr id="13" name="Image 4">
            <a:extLst>
              <a:ext uri="{FF2B5EF4-FFF2-40B4-BE49-F238E27FC236}">
                <a16:creationId xmlns:a16="http://schemas.microsoft.com/office/drawing/2014/main" id="{3B43C181-A5C1-1B74-762A-BFFE5273AF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326" y="77834"/>
            <a:ext cx="1134588" cy="1002356"/>
          </a:xfrm>
          <a:prstGeom prst="rect">
            <a:avLst/>
          </a:prstGeom>
        </p:spPr>
      </p:pic>
      <p:pic>
        <p:nvPicPr>
          <p:cNvPr id="20" name="Image 4">
            <a:extLst>
              <a:ext uri="{FF2B5EF4-FFF2-40B4-BE49-F238E27FC236}">
                <a16:creationId xmlns:a16="http://schemas.microsoft.com/office/drawing/2014/main" id="{7CEC4686-6A63-7E11-873E-59AEC6DB0240}"/>
              </a:ext>
            </a:extLst>
          </p:cNvPr>
          <p:cNvPicPr/>
          <p:nvPr/>
        </p:nvPicPr>
        <p:blipFill>
          <a:blip r:embed="rId3" cstate="print">
            <a:alphaModFix amt="5000"/>
          </a:blip>
          <a:stretch>
            <a:fillRect/>
          </a:stretch>
        </p:blipFill>
        <p:spPr>
          <a:xfrm>
            <a:off x="2668572" y="1025698"/>
            <a:ext cx="6154672" cy="5409340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A25ACCC-0F40-1F10-FF16-242293983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71088" y="1185354"/>
            <a:ext cx="3233481" cy="2897255"/>
          </a:xfr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indent="0">
              <a:buNone/>
            </a:pPr>
            <a:r>
              <a:rPr lang="en-IN" sz="2800" b="1" u="sng" dirty="0"/>
              <a:t>Features Used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Email Text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Label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Label 0 → Legitimate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Label 1 → Spam 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EFFAEBDD-279A-5349-F696-4F6FB16BFF53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B8C8B0-6681-82D9-EA2B-7CE298A7A031}"/>
              </a:ext>
            </a:extLst>
          </p:cNvPr>
          <p:cNvSpPr/>
          <p:nvPr/>
        </p:nvSpPr>
        <p:spPr>
          <a:xfrm>
            <a:off x="981709" y="4533198"/>
            <a:ext cx="10653565" cy="1492636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Key Observation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Dataset contains both Legitimate and Spam emails.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Clean and balanced dataset for model training.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Suitable for Machine Learning classification.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B487F0D3-1F0B-FE0B-68F0-9B4603814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919494"/>
            <a:ext cx="3657566" cy="285930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b="1" u="sng" dirty="0"/>
              <a:t>Dataset Summary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Total Records : 82,078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Total Features : 2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Legitimate (Ham) = 0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Spam (Phishing) = 1 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A0ACBA-AF9B-3FD0-2277-0504F0FA47E0}"/>
              </a:ext>
            </a:extLst>
          </p:cNvPr>
          <p:cNvSpPr/>
          <p:nvPr/>
        </p:nvSpPr>
        <p:spPr>
          <a:xfrm>
            <a:off x="981709" y="3890865"/>
            <a:ext cx="6154672" cy="5302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u="sng" dirty="0">
                <a:solidFill>
                  <a:srgbClr val="002060"/>
                </a:solidFill>
              </a:rPr>
              <a:t>Source</a:t>
            </a:r>
            <a:r>
              <a:rPr lang="en-IN" sz="2400" b="1" dirty="0">
                <a:solidFill>
                  <a:srgbClr val="002060"/>
                </a:solidFill>
              </a:rPr>
              <a:t>: Kaggle Phishing Email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8A9BBC-81B7-5376-3EC4-3FB3468CAE7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7320644" y="1111781"/>
            <a:ext cx="4405568" cy="293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1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74EC-14AC-DDB4-95D1-14ACDC0F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9A69-0053-2DBF-E864-BCF7C808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DATA PREPROCESSING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1D80B8CF-83D2-D54B-1D0E-4562EFEA28F6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3748384" y="1056618"/>
            <a:ext cx="4987924" cy="4582471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E0950AE-0BC5-2208-9A39-220236187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69969" y="1056618"/>
            <a:ext cx="4304172" cy="4201113"/>
          </a:xfrm>
        </p:spPr>
        <p:txBody>
          <a:bodyPr/>
          <a:lstStyle/>
          <a:p>
            <a:pPr marL="0" indent="0" algn="ctr">
              <a:buNone/>
            </a:pPr>
            <a:r>
              <a:rPr lang="en-IN" b="1" u="sng" dirty="0"/>
              <a:t>Workflow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000" dirty="0"/>
              <a:t>Raw Email Dataset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000" dirty="0"/>
              <a:t>Missing Value Check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000" dirty="0"/>
              <a:t>Remove Duplicate Emails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000" dirty="0"/>
              <a:t> Convert Text to Lowercase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000" dirty="0"/>
              <a:t>Remove Special Characters &amp; Numbers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000" dirty="0"/>
              <a:t>Remove Stop Words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000" dirty="0"/>
              <a:t>Clean Email Text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CA5B8724-23F4-4C98-3A8E-8558E136BABC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F5AF45-39A3-9CC9-B53D-1316DD58AC64}"/>
              </a:ext>
            </a:extLst>
          </p:cNvPr>
          <p:cNvSpPr/>
          <p:nvPr/>
        </p:nvSpPr>
        <p:spPr>
          <a:xfrm>
            <a:off x="1174049" y="5623945"/>
            <a:ext cx="10226084" cy="576097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Output</a:t>
            </a:r>
            <a:r>
              <a:rPr lang="en-IN" sz="2800" b="1" dirty="0">
                <a:solidFill>
                  <a:srgbClr val="002060"/>
                </a:solidFill>
              </a:rPr>
              <a:t>  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Clean dataset ready for TF-IDF feature extraction and Machine Learning model training. 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1741BA7-A78D-07D4-FC1A-5952B7302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304" y="919494"/>
            <a:ext cx="5157787" cy="4460044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u="sng" dirty="0"/>
              <a:t>Data Cleaning Steps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Checked missing values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Removed duplicate records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Converted text to lowercase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Removed special characters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Removed numbers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Removed extra spaces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Removed stop words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sz="1800" dirty="0"/>
              <a:t>Created </a:t>
            </a:r>
            <a:r>
              <a:rPr lang="en-IN" sz="1800" b="1" dirty="0"/>
              <a:t>clean text</a:t>
            </a:r>
            <a:r>
              <a:rPr lang="en-IN" sz="1800" dirty="0"/>
              <a:t> column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2177B87-4BCD-2D67-71AB-E2CC3EA78863}"/>
              </a:ext>
            </a:extLst>
          </p:cNvPr>
          <p:cNvSpPr/>
          <p:nvPr/>
        </p:nvSpPr>
        <p:spPr>
          <a:xfrm>
            <a:off x="8988143" y="4653280"/>
            <a:ext cx="176177" cy="25773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Image 4">
            <a:extLst>
              <a:ext uri="{FF2B5EF4-FFF2-40B4-BE49-F238E27FC236}">
                <a16:creationId xmlns:a16="http://schemas.microsoft.com/office/drawing/2014/main" id="{35F4B4C7-E89C-441D-1E1C-1A1F0279C8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17200" y="77834"/>
            <a:ext cx="1499874" cy="1337904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0EB4AC03-95CE-3647-3B54-FF6B5AE464DA}"/>
              </a:ext>
            </a:extLst>
          </p:cNvPr>
          <p:cNvSpPr/>
          <p:nvPr/>
        </p:nvSpPr>
        <p:spPr>
          <a:xfrm>
            <a:off x="8988143" y="4118307"/>
            <a:ext cx="176177" cy="25773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6B34DAD-1F85-EB7E-F74B-B779A5F8B5D5}"/>
              </a:ext>
            </a:extLst>
          </p:cNvPr>
          <p:cNvSpPr/>
          <p:nvPr/>
        </p:nvSpPr>
        <p:spPr>
          <a:xfrm>
            <a:off x="8981597" y="3611346"/>
            <a:ext cx="176177" cy="25773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DCDC4A3A-7DBE-816A-454E-C90793651147}"/>
              </a:ext>
            </a:extLst>
          </p:cNvPr>
          <p:cNvSpPr/>
          <p:nvPr/>
        </p:nvSpPr>
        <p:spPr>
          <a:xfrm>
            <a:off x="8988143" y="3076373"/>
            <a:ext cx="176177" cy="25773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C4ED766A-88E5-5269-842A-E781B765CE29}"/>
              </a:ext>
            </a:extLst>
          </p:cNvPr>
          <p:cNvSpPr/>
          <p:nvPr/>
        </p:nvSpPr>
        <p:spPr>
          <a:xfrm>
            <a:off x="8981596" y="2588303"/>
            <a:ext cx="176177" cy="25773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D55CB7D0-3F0D-6E6C-9877-A294A466BDCC}"/>
              </a:ext>
            </a:extLst>
          </p:cNvPr>
          <p:cNvSpPr/>
          <p:nvPr/>
        </p:nvSpPr>
        <p:spPr>
          <a:xfrm>
            <a:off x="8988143" y="2034439"/>
            <a:ext cx="176177" cy="25773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8403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C43D-C5AE-C0DD-C865-22256B811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7C58-DA85-F666-55C6-5C2DEFF0F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FEATURE ENGINEERING USING NLP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23727C4D-3820-0077-83A9-E3551DECDDEA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965337" y="1213966"/>
            <a:ext cx="4987924" cy="3932220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B47096F0-C112-B63D-E816-B6A9FED0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7636" y="926887"/>
            <a:ext cx="4304172" cy="3622801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Email Text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Clean Email Text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TF-IDF Vectorizer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 Feature Matrix (5000 Features)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Machine Learning Models 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42B3DAFA-6F1B-C01B-3B21-C0E04BA9C5F6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3D19A4-A4C8-8AE0-7CB1-765132104775}"/>
              </a:ext>
            </a:extLst>
          </p:cNvPr>
          <p:cNvSpPr/>
          <p:nvPr/>
        </p:nvSpPr>
        <p:spPr>
          <a:xfrm>
            <a:off x="839788" y="4618095"/>
            <a:ext cx="10226084" cy="1534961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Output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Convert email text into numerical features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TF-IDF gives more importance to meaningful words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Feature matrix used to train all ML models 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D81EF01-6057-5310-0621-E02DDC8AECC4}"/>
              </a:ext>
            </a:extLst>
          </p:cNvPr>
          <p:cNvSpPr/>
          <p:nvPr/>
        </p:nvSpPr>
        <p:spPr>
          <a:xfrm>
            <a:off x="5368666" y="154488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FE70B41-75D7-E40C-CEB7-1285222BC0DE}"/>
              </a:ext>
            </a:extLst>
          </p:cNvPr>
          <p:cNvSpPr/>
          <p:nvPr/>
        </p:nvSpPr>
        <p:spPr>
          <a:xfrm>
            <a:off x="5368666" y="223299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D80B9F5-7E85-5B49-5D5B-B5902BF90C3A}"/>
              </a:ext>
            </a:extLst>
          </p:cNvPr>
          <p:cNvSpPr/>
          <p:nvPr/>
        </p:nvSpPr>
        <p:spPr>
          <a:xfrm>
            <a:off x="5395767" y="2881430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9437E7E-772B-38CE-3C93-218103422335}"/>
              </a:ext>
            </a:extLst>
          </p:cNvPr>
          <p:cNvSpPr/>
          <p:nvPr/>
        </p:nvSpPr>
        <p:spPr>
          <a:xfrm>
            <a:off x="5396190" y="3529862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D46B28E1-52BD-DF83-DE40-0F0EA857E5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25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3A91-B3A6-21F1-ABB0-838043F6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8E7E-B78E-5870-9922-45C6F1A3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EXPLORATORY DATA ANALYSIS (EDA)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30A05347-5E12-2CFC-2642-155ADA907557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3503613" y="1191419"/>
            <a:ext cx="4987924" cy="4582471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CF63A3F2-001C-50D1-5C69-39CD9A934D3B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A63743-B1A8-C8FD-62A5-42E2B20827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1191419"/>
            <a:ext cx="5157787" cy="3438524"/>
          </a:xfrm>
          <a:solidFill>
            <a:srgbClr val="4472C4">
              <a:lumMod val="20000"/>
              <a:lumOff val="80000"/>
            </a:srgbClr>
          </a:solidFill>
        </p:spPr>
      </p:pic>
      <p:sp>
        <p:nvSpPr>
          <p:cNvPr id="10" name="Rectangle: Single Corner Rounded 9">
            <a:extLst>
              <a:ext uri="{FF2B5EF4-FFF2-40B4-BE49-F238E27FC236}">
                <a16:creationId xmlns:a16="http://schemas.microsoft.com/office/drawing/2014/main" id="{65F71F62-5DA0-3180-B9EB-7308FDA60F85}"/>
              </a:ext>
            </a:extLst>
          </p:cNvPr>
          <p:cNvSpPr/>
          <p:nvPr/>
        </p:nvSpPr>
        <p:spPr>
          <a:xfrm>
            <a:off x="975361" y="4445664"/>
            <a:ext cx="9814278" cy="1724376"/>
          </a:xfrm>
          <a:prstGeom prst="round1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2800" b="1" u="sng" dirty="0">
                <a:solidFill>
                  <a:srgbClr val="002060"/>
                </a:solidFill>
              </a:rPr>
              <a:t>Key Insights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</a:rPr>
              <a:t>Spam and Legitimate emails are well represented.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</a:rPr>
              <a:t>Email length varies between the two classes.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EDA helped understand the dataset before model training. 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F4D2258-A414-F2C0-52B7-11F95C1C92A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521450" y="1578372"/>
            <a:ext cx="5183188" cy="2591593"/>
          </a:xfrm>
        </p:spPr>
      </p:pic>
      <p:pic>
        <p:nvPicPr>
          <p:cNvPr id="4" name="Image 4">
            <a:extLst>
              <a:ext uri="{FF2B5EF4-FFF2-40B4-BE49-F238E27FC236}">
                <a16:creationId xmlns:a16="http://schemas.microsoft.com/office/drawing/2014/main" id="{2BF18FA5-6875-884A-AB1F-D6D38ACBD35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2D79CC-237A-3D2E-A860-C91FE850FBD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5395603" y="891741"/>
            <a:ext cx="5394036" cy="3466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057ED4-4C27-9707-7FEA-99DF405C1B2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975361" y="1093809"/>
            <a:ext cx="4256422" cy="326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66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7FA0A-15CB-FAEB-4A91-555491E38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3064-12C8-0104-1491-7A8B467C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MACHINE LEARNING WORKFLOW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4B11F634-C833-DEF2-40AF-C41902C03AAE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763090" y="1025698"/>
            <a:ext cx="5826971" cy="4928926"/>
          </a:xfrm>
          <a:prstGeom prst="rect">
            <a:avLst/>
          </a:prstGeom>
        </p:spPr>
      </p:pic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5A622195-B139-7B2F-DF33-B8CDC79D8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8059" y="945072"/>
            <a:ext cx="4304172" cy="4983288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Email Dataset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Data Preprocessing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TF-IDF Feature Extraction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Train-Test Split(80 : 20)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Train Machine Learning Models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Model Evaluation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2000" dirty="0"/>
              <a:t>Best Model Selection </a:t>
            </a:r>
            <a:endParaRPr lang="en-IN" sz="2000" b="1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7A0616ED-E870-AA02-4EF3-01C42B551FDF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5D2D3602-6AC4-AEB0-2E40-B74EDE261417}"/>
              </a:ext>
            </a:extLst>
          </p:cNvPr>
          <p:cNvSpPr/>
          <p:nvPr/>
        </p:nvSpPr>
        <p:spPr>
          <a:xfrm>
            <a:off x="5368666" y="154488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3759B48-271A-97FB-62D7-295C1C27B4ED}"/>
              </a:ext>
            </a:extLst>
          </p:cNvPr>
          <p:cNvSpPr/>
          <p:nvPr/>
        </p:nvSpPr>
        <p:spPr>
          <a:xfrm>
            <a:off x="5368666" y="223299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BB83613-1544-B581-30DE-75F122ADFA34}"/>
              </a:ext>
            </a:extLst>
          </p:cNvPr>
          <p:cNvSpPr/>
          <p:nvPr/>
        </p:nvSpPr>
        <p:spPr>
          <a:xfrm>
            <a:off x="5395767" y="2881430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C4BA676-4B0A-E151-2A06-77B65E98B5CA}"/>
              </a:ext>
            </a:extLst>
          </p:cNvPr>
          <p:cNvSpPr/>
          <p:nvPr/>
        </p:nvSpPr>
        <p:spPr>
          <a:xfrm>
            <a:off x="5396190" y="3529862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726F0E1-49A3-3446-CDA1-A8FC670CDD48}"/>
              </a:ext>
            </a:extLst>
          </p:cNvPr>
          <p:cNvSpPr/>
          <p:nvPr/>
        </p:nvSpPr>
        <p:spPr>
          <a:xfrm>
            <a:off x="5396190" y="4291756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8E3D510-F2F0-1EED-245C-E940C60F785C}"/>
              </a:ext>
            </a:extLst>
          </p:cNvPr>
          <p:cNvSpPr/>
          <p:nvPr/>
        </p:nvSpPr>
        <p:spPr>
          <a:xfrm>
            <a:off x="5400701" y="4893715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id="{39960B2C-B697-3B6B-4C86-7E572D041AD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80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DE1A-B527-2393-3209-144CA544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C842-DBA4-0738-286A-C3B262C9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MACHINE LEARNING MODELS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62BE43A6-979E-1233-82F1-19F649644C29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741182" y="1011391"/>
            <a:ext cx="5826971" cy="4928926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09DA10C4-987A-74AF-7CA6-DEF6271FCF95}"/>
              </a:ext>
            </a:extLst>
          </p:cNvPr>
          <p:cNvSpPr/>
          <p:nvPr/>
        </p:nvSpPr>
        <p:spPr>
          <a:xfrm>
            <a:off x="-1515937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8EB5237-05F8-54B0-91BA-E513EFDC3EE9}"/>
              </a:ext>
            </a:extLst>
          </p:cNvPr>
          <p:cNvSpPr/>
          <p:nvPr/>
        </p:nvSpPr>
        <p:spPr>
          <a:xfrm>
            <a:off x="9328807" y="4808863"/>
            <a:ext cx="408059" cy="48020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ntent Placeholder 24">
            <a:extLst>
              <a:ext uri="{FF2B5EF4-FFF2-40B4-BE49-F238E27FC236}">
                <a16:creationId xmlns:a16="http://schemas.microsoft.com/office/drawing/2014/main" id="{39E6B692-BA03-7C74-D289-624657E80825}"/>
              </a:ext>
            </a:extLst>
          </p:cNvPr>
          <p:cNvSpPr txBox="1">
            <a:spLocks/>
          </p:cNvSpPr>
          <p:nvPr/>
        </p:nvSpPr>
        <p:spPr>
          <a:xfrm>
            <a:off x="7400148" y="1165763"/>
            <a:ext cx="4304172" cy="4983288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en-IN" sz="2800" b="1" u="sng" dirty="0">
                <a:latin typeface="Aptos" panose="020B0004020202020204" pitchFamily="34" charset="0"/>
              </a:rPr>
              <a:t>Model Selection Strategy</a:t>
            </a:r>
          </a:p>
          <a:p>
            <a:pPr marL="0" indent="0" algn="ctr">
              <a:lnSpc>
                <a:spcPct val="200000"/>
              </a:lnSpc>
              <a:buFont typeface="Arial" pitchFamily="34" charset="0"/>
              <a:buNone/>
            </a:pPr>
            <a:r>
              <a:rPr lang="en-IN" sz="2400" dirty="0"/>
              <a:t>Same Dataset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400" dirty="0"/>
              <a:t>Same TF-IDF Features </a:t>
            </a:r>
            <a:br>
              <a:rPr lang="en-IN" sz="2400" dirty="0"/>
            </a:br>
            <a:r>
              <a:rPr lang="en-IN" sz="2400" dirty="0"/>
              <a:t>Same Train/Test Split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400" dirty="0"/>
              <a:t>Compare Accuracy of All Models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60DB77-DE2D-4086-DFD6-10E752FEF3C4}"/>
              </a:ext>
            </a:extLst>
          </p:cNvPr>
          <p:cNvSpPr/>
          <p:nvPr/>
        </p:nvSpPr>
        <p:spPr>
          <a:xfrm>
            <a:off x="790264" y="1296591"/>
            <a:ext cx="3034976" cy="157079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rgbClr val="00206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Aptos" panose="020B0004020202020204" pitchFamily="34" charset="0"/>
              </a:rPr>
              <a:t>Logistic Regression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(Linear Classification)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188CCE-D563-4F56-B6D7-BBA927944580}"/>
              </a:ext>
            </a:extLst>
          </p:cNvPr>
          <p:cNvSpPr/>
          <p:nvPr/>
        </p:nvSpPr>
        <p:spPr>
          <a:xfrm>
            <a:off x="770999" y="3102627"/>
            <a:ext cx="3034976" cy="157079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chemeClr val="accent2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MLP Classifier 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(Neural Network Approach 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507512-3F94-BED3-5C10-BA6E6E91870D}"/>
              </a:ext>
            </a:extLst>
          </p:cNvPr>
          <p:cNvSpPr/>
          <p:nvPr/>
        </p:nvSpPr>
        <p:spPr>
          <a:xfrm>
            <a:off x="4365172" y="3137478"/>
            <a:ext cx="3034976" cy="1570790"/>
          </a:xfrm>
          <a:prstGeom prst="round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solidFill>
              <a:schemeClr val="accent4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Random Forest </a:t>
            </a:r>
            <a:r>
              <a:rPr lang="en-IN" sz="2400" dirty="0">
                <a:solidFill>
                  <a:schemeClr val="tx1"/>
                </a:solidFill>
              </a:rPr>
              <a:t>(Ensemble Learning)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05A59B-9256-A8B0-96A0-2FFD1CFCB834}"/>
              </a:ext>
            </a:extLst>
          </p:cNvPr>
          <p:cNvSpPr/>
          <p:nvPr/>
        </p:nvSpPr>
        <p:spPr>
          <a:xfrm>
            <a:off x="4353174" y="1296591"/>
            <a:ext cx="3034976" cy="157079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Naive Bayes 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(Probability Based)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49840EF-CB9D-D674-01F3-864960C905B7}"/>
              </a:ext>
            </a:extLst>
          </p:cNvPr>
          <p:cNvSpPr/>
          <p:nvPr/>
        </p:nvSpPr>
        <p:spPr>
          <a:xfrm>
            <a:off x="9328807" y="3758704"/>
            <a:ext cx="408059" cy="48020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2A01E6F1-E28F-A99B-C184-E0298D5D2696}"/>
              </a:ext>
            </a:extLst>
          </p:cNvPr>
          <p:cNvSpPr/>
          <p:nvPr/>
        </p:nvSpPr>
        <p:spPr>
          <a:xfrm>
            <a:off x="9328806" y="2793373"/>
            <a:ext cx="408059" cy="48020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1" name="Image 4">
            <a:extLst>
              <a:ext uri="{FF2B5EF4-FFF2-40B4-BE49-F238E27FC236}">
                <a16:creationId xmlns:a16="http://schemas.microsoft.com/office/drawing/2014/main" id="{C4236955-F826-0600-E239-C4B7B7282A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26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2878-0EC5-1F5B-5B6A-D1C8EF7AF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57E6-E200-5A76-BD86-18251619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MODEL PERFORMANCE COMPARISON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7931CE6C-097B-167E-0550-1C1B7E6A2372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668572" y="1025698"/>
            <a:ext cx="6154672" cy="540934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FF135E3D-DF5E-FCB2-5488-8733108F16AB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A35C66-E9EF-9B25-38DC-CAB1B8F86AD3}"/>
              </a:ext>
            </a:extLst>
          </p:cNvPr>
          <p:cNvSpPr/>
          <p:nvPr/>
        </p:nvSpPr>
        <p:spPr>
          <a:xfrm>
            <a:off x="981710" y="4912057"/>
            <a:ext cx="9528398" cy="1492636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2800" b="1" u="sng" dirty="0">
                <a:solidFill>
                  <a:schemeClr val="tx1"/>
                </a:solidFill>
              </a:rPr>
              <a:t>Best Model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Highest Accuracy </a:t>
            </a:r>
            <a:r>
              <a:rPr lang="en-IN" b="1" dirty="0">
                <a:solidFill>
                  <a:schemeClr val="tx1"/>
                </a:solidFill>
              </a:rPr>
              <a:t>(98.44%)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Better Prediction Performance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Selected as Final Model  </a:t>
            </a:r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9D42DE49-D496-0867-38DB-A8443350B2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CA8544-EAB6-E288-22F1-6716C3D8222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089140" y="1924146"/>
            <a:ext cx="3647900" cy="2089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9BCBE6-7803-6331-CBD6-779E8A90E13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4840211" y="994720"/>
            <a:ext cx="5669895" cy="380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0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ECFC-A444-D6B0-B40F-2F3C7B16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A3A7-5288-8AD6-259D-54A8BB84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BEST MODEL &amp; FINAL RESULTS 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444E2D14-7FC7-9E68-3902-E98821BC0603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668572" y="1025698"/>
            <a:ext cx="6154672" cy="540934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249451B1-1D4C-1539-C26D-F7E2166D8EEA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2E97CE-2280-6ECC-D0B6-C07924CA05B6}"/>
              </a:ext>
            </a:extLst>
          </p:cNvPr>
          <p:cNvSpPr/>
          <p:nvPr/>
        </p:nvSpPr>
        <p:spPr>
          <a:xfrm>
            <a:off x="981710" y="4533198"/>
            <a:ext cx="8856772" cy="195941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2800" b="1" u="sng" dirty="0">
                <a:solidFill>
                  <a:schemeClr val="tx1"/>
                </a:solidFill>
              </a:rPr>
              <a:t>Why Random Forest?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Highest Accuracy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Better Precision, Recall &amp; F1-Score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More Reliable Predictions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Selected as Final Model 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22D62BC-0382-098B-0811-BC8A91CB2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1709" y="1574993"/>
            <a:ext cx="4913570" cy="78924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b="1" u="sng" dirty="0">
                <a:latin typeface="Aptos" panose="020B0004020202020204" pitchFamily="34" charset="0"/>
              </a:rPr>
              <a:t>BEST MODEL</a:t>
            </a:r>
            <a:endParaRPr lang="en-IN" b="1" u="sng" dirty="0"/>
          </a:p>
        </p:txBody>
      </p:sp>
      <p:sp>
        <p:nvSpPr>
          <p:cNvPr id="7" name="Content Placeholder 24">
            <a:extLst>
              <a:ext uri="{FF2B5EF4-FFF2-40B4-BE49-F238E27FC236}">
                <a16:creationId xmlns:a16="http://schemas.microsoft.com/office/drawing/2014/main" id="{584F3EE9-3AEC-A24F-D739-CC5141B0A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029442"/>
            <a:ext cx="4304172" cy="3289794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800" b="1" u="sng" dirty="0"/>
              <a:t>Final Outcome 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000" dirty="0"/>
              <a:t>Email Message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000" dirty="0"/>
              <a:t>Random Forest Model 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2000" dirty="0"/>
              <a:t>Legitimate Email / Spam Email 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2EE6BB3-FBA6-7803-DBB9-2E6044898E84}"/>
              </a:ext>
            </a:extLst>
          </p:cNvPr>
          <p:cNvSpPr/>
          <p:nvPr/>
        </p:nvSpPr>
        <p:spPr>
          <a:xfrm>
            <a:off x="8077490" y="2481877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6EB7289F-9D94-F958-E372-BD9DDA0B5E67}"/>
              </a:ext>
            </a:extLst>
          </p:cNvPr>
          <p:cNvSpPr/>
          <p:nvPr/>
        </p:nvSpPr>
        <p:spPr>
          <a:xfrm>
            <a:off x="8077490" y="3305339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6" name="Image 4">
            <a:extLst>
              <a:ext uri="{FF2B5EF4-FFF2-40B4-BE49-F238E27FC236}">
                <a16:creationId xmlns:a16="http://schemas.microsoft.com/office/drawing/2014/main" id="{2AFBD8A2-B04E-871E-190B-F9425ECDFB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4B4B7D-0A5E-87C7-13D4-F278E80831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361301" y="2261429"/>
            <a:ext cx="4154386" cy="91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1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246B-CC45-F27D-D1E8-8FFC88D9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3B44-E944-C646-C827-3E700E7E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057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Aptos" panose="020B0004020202020204" pitchFamily="34" charset="0"/>
              </a:rPr>
              <a:t>REAL-WORLD APPLICATIONS</a:t>
            </a:r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8D58360A-FB8C-2C38-73FE-E71A2B66472D}"/>
              </a:ext>
            </a:extLst>
          </p:cNvPr>
          <p:cNvPicPr/>
          <p:nvPr/>
        </p:nvPicPr>
        <p:blipFill>
          <a:blip r:embed="rId2" cstate="print">
            <a:alphaModFix amt="5000"/>
          </a:blip>
          <a:stretch>
            <a:fillRect/>
          </a:stretch>
        </p:blipFill>
        <p:spPr>
          <a:xfrm>
            <a:off x="2753099" y="857113"/>
            <a:ext cx="6154672" cy="540934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EDCABDFA-D382-AD06-5A33-FAB7253B145C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30B5A9-7255-B244-37CF-6F4A17752610}"/>
              </a:ext>
            </a:extLst>
          </p:cNvPr>
          <p:cNvSpPr/>
          <p:nvPr/>
        </p:nvSpPr>
        <p:spPr>
          <a:xfrm>
            <a:off x="1389498" y="1315065"/>
            <a:ext cx="4271058" cy="121534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Aptos" panose="020B0004020202020204" pitchFamily="34" charset="0"/>
              </a:rPr>
              <a:t>Email Service Providers  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(Automatically filter spam emails)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DD717D-921B-56BB-ACBC-9D35F19DE91A}"/>
              </a:ext>
            </a:extLst>
          </p:cNvPr>
          <p:cNvSpPr/>
          <p:nvPr/>
        </p:nvSpPr>
        <p:spPr>
          <a:xfrm>
            <a:off x="1389498" y="3088453"/>
            <a:ext cx="4271058" cy="121534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Aptos" panose="020B0004020202020204" pitchFamily="34" charset="0"/>
              </a:rPr>
              <a:t>Web &amp; Email Applications   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(Real-time phishing email detection 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555CAA-4FBE-8325-5790-D3AA26A18490}"/>
              </a:ext>
            </a:extLst>
          </p:cNvPr>
          <p:cNvSpPr/>
          <p:nvPr/>
        </p:nvSpPr>
        <p:spPr>
          <a:xfrm>
            <a:off x="6151558" y="1315064"/>
            <a:ext cx="4271058" cy="121534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Aptos" panose="020B0004020202020204" pitchFamily="34" charset="0"/>
              </a:rPr>
              <a:t>Business Organizations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(Protect employees from phishing attacks 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18E0A1-58EC-4EC1-BFBF-93345850461E}"/>
              </a:ext>
            </a:extLst>
          </p:cNvPr>
          <p:cNvSpPr/>
          <p:nvPr/>
        </p:nvSpPr>
        <p:spPr>
          <a:xfrm>
            <a:off x="6151558" y="3088452"/>
            <a:ext cx="4271058" cy="121534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Aptos" panose="020B0004020202020204" pitchFamily="34" charset="0"/>
              </a:rPr>
              <a:t>Educational Institutions </a:t>
            </a:r>
            <a:br>
              <a:rPr lang="en-IN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(Secure student and staff email systems 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D1CC4A-5D5F-0079-756B-E4F569FFCC4F}"/>
              </a:ext>
            </a:extLst>
          </p:cNvPr>
          <p:cNvSpPr/>
          <p:nvPr/>
        </p:nvSpPr>
        <p:spPr>
          <a:xfrm>
            <a:off x="3682203" y="4822040"/>
            <a:ext cx="4271058" cy="121534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Aptos" panose="020B0004020202020204" pitchFamily="34" charset="0"/>
              </a:rPr>
              <a:t>Cybersecurity Systems  </a:t>
            </a:r>
            <a:br>
              <a:rPr lang="en-IN" sz="2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(Detect malicious emails before delivery)</a:t>
            </a:r>
          </a:p>
        </p:txBody>
      </p:sp>
      <p:pic>
        <p:nvPicPr>
          <p:cNvPr id="26" name="Image 4">
            <a:extLst>
              <a:ext uri="{FF2B5EF4-FFF2-40B4-BE49-F238E27FC236}">
                <a16:creationId xmlns:a16="http://schemas.microsoft.com/office/drawing/2014/main" id="{23E912A5-71D0-8452-E139-90F9417F22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8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48" y="60629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200" b="1" u="sng" dirty="0">
                <a:latin typeface="Aptos" panose="020B0004020202020204" pitchFamily="34" charset="0"/>
              </a:rPr>
              <a:t>FUTURE SCOPE </a:t>
            </a:r>
            <a:endParaRPr lang="en-US" sz="3200" b="1" u="sng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98880" y="1349206"/>
            <a:ext cx="9811512" cy="3284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Larger &amp; More Diverse Email Datasets  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Advanced Deep Learning Models (LSTM, BERT, Transformer) 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Real-Time Email Detection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Browser Extension / Email Plugin 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URL, Sender &amp; Attachment Analysis</a:t>
            </a:r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sz="2000" dirty="0"/>
              <a:t>Cloud-Based Deployment </a:t>
            </a:r>
            <a:endParaRPr lang="en-US" sz="2000" dirty="0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3A47D190-5CC4-2978-048F-076D7855F2CF}"/>
              </a:ext>
            </a:extLst>
          </p:cNvPr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id="{F02D7A47-9709-31AE-EBE2-A42850D2A5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326" y="77834"/>
            <a:ext cx="1134588" cy="1002356"/>
          </a:xfrm>
          <a:prstGeom prst="rect">
            <a:avLst/>
          </a:prstGeom>
        </p:spPr>
      </p:pic>
      <p:pic>
        <p:nvPicPr>
          <p:cNvPr id="12" name="Image 4">
            <a:extLst>
              <a:ext uri="{FF2B5EF4-FFF2-40B4-BE49-F238E27FC236}">
                <a16:creationId xmlns:a16="http://schemas.microsoft.com/office/drawing/2014/main" id="{8AD946E9-D874-D5FC-A090-AC66490DF099}"/>
              </a:ext>
            </a:extLst>
          </p:cNvPr>
          <p:cNvPicPr/>
          <p:nvPr/>
        </p:nvPicPr>
        <p:blipFill>
          <a:blip r:embed="rId4" cstate="print">
            <a:alphaModFix amt="5000"/>
          </a:blip>
          <a:stretch>
            <a:fillRect/>
          </a:stretch>
        </p:blipFill>
        <p:spPr>
          <a:xfrm>
            <a:off x="3230385" y="1137764"/>
            <a:ext cx="4987924" cy="4582471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EE6A51C3-2EB7-E37A-5E19-28F2F8776FB3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Image 4">
            <a:extLst>
              <a:ext uri="{FF2B5EF4-FFF2-40B4-BE49-F238E27FC236}">
                <a16:creationId xmlns:a16="http://schemas.microsoft.com/office/drawing/2014/main" id="{89665BD4-CB80-F2BE-98CB-E8C4E4555E8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93B7-DD22-5301-5CC0-905221BC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214F64-1FA4-CA2E-80A0-A75606ADC0AF}"/>
              </a:ext>
            </a:extLst>
          </p:cNvPr>
          <p:cNvSpPr/>
          <p:nvPr/>
        </p:nvSpPr>
        <p:spPr>
          <a:xfrm>
            <a:off x="447948" y="606289"/>
            <a:ext cx="5648052" cy="64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200" b="1" u="sng" dirty="0">
                <a:latin typeface="Aptos" panose="020B0004020202020204" pitchFamily="34" charset="0"/>
              </a:rPr>
              <a:t>CONCLUSION  </a:t>
            </a:r>
            <a:endParaRPr lang="en-US" sz="3200" b="1" u="sng" dirty="0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99BA92-0096-6BA2-84B5-CFB80433AFF9}"/>
              </a:ext>
            </a:extLst>
          </p:cNvPr>
          <p:cNvSpPr/>
          <p:nvPr/>
        </p:nvSpPr>
        <p:spPr>
          <a:xfrm>
            <a:off x="1188720" y="1349206"/>
            <a:ext cx="4246244" cy="400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Problem Identified </a:t>
            </a:r>
          </a:p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Data Prepared &amp; Cleaned </a:t>
            </a:r>
          </a:p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Multiple ML Models Trained </a:t>
            </a:r>
          </a:p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Random Forest Selected </a:t>
            </a:r>
          </a:p>
          <a:p>
            <a:pPr algn="ctr">
              <a:lnSpc>
                <a:spcPct val="200000"/>
              </a:lnSpc>
              <a:spcAft>
                <a:spcPts val="1600"/>
              </a:spcAft>
              <a:buSzPct val="100000"/>
            </a:pPr>
            <a:r>
              <a:rPr lang="en-IN" sz="2400" dirty="0"/>
              <a:t>Phishing Emails Successfully</a:t>
            </a:r>
            <a:endParaRPr lang="en-US" sz="2400" dirty="0"/>
          </a:p>
        </p:txBody>
      </p:sp>
      <p:pic>
        <p:nvPicPr>
          <p:cNvPr id="12" name="Image 4">
            <a:extLst>
              <a:ext uri="{FF2B5EF4-FFF2-40B4-BE49-F238E27FC236}">
                <a16:creationId xmlns:a16="http://schemas.microsoft.com/office/drawing/2014/main" id="{FAF43EDD-0FD2-CE67-DCD7-3D0538FDB53F}"/>
              </a:ext>
            </a:extLst>
          </p:cNvPr>
          <p:cNvPicPr/>
          <p:nvPr/>
        </p:nvPicPr>
        <p:blipFill>
          <a:blip r:embed="rId3" cstate="print">
            <a:alphaModFix amt="5000"/>
          </a:blip>
          <a:stretch>
            <a:fillRect/>
          </a:stretch>
        </p:blipFill>
        <p:spPr>
          <a:xfrm>
            <a:off x="4935220" y="-380913"/>
            <a:ext cx="4987924" cy="4582471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42455631-45D4-7905-8B98-D96C7AFF1BDD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9F2E943-3532-3E53-53E0-D4713A7308F2}"/>
              </a:ext>
            </a:extLst>
          </p:cNvPr>
          <p:cNvSpPr/>
          <p:nvPr/>
        </p:nvSpPr>
        <p:spPr>
          <a:xfrm>
            <a:off x="3102325" y="181920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E70AE40-4C64-E456-1036-0DB9A690A870}"/>
              </a:ext>
            </a:extLst>
          </p:cNvPr>
          <p:cNvSpPr/>
          <p:nvPr/>
        </p:nvSpPr>
        <p:spPr>
          <a:xfrm>
            <a:off x="3102325" y="283520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6C40A9B-9D67-D951-2A52-47D3C68C23FE}"/>
              </a:ext>
            </a:extLst>
          </p:cNvPr>
          <p:cNvSpPr/>
          <p:nvPr/>
        </p:nvSpPr>
        <p:spPr>
          <a:xfrm>
            <a:off x="3102325" y="3841697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7505A67-D576-3D26-2A77-B69B60CBEBD3}"/>
              </a:ext>
            </a:extLst>
          </p:cNvPr>
          <p:cNvSpPr/>
          <p:nvPr/>
        </p:nvSpPr>
        <p:spPr>
          <a:xfrm>
            <a:off x="3102325" y="4775768"/>
            <a:ext cx="307910" cy="36389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CB51F5-DB87-FDFA-F264-FDFD91CDC870}"/>
              </a:ext>
            </a:extLst>
          </p:cNvPr>
          <p:cNvSpPr/>
          <p:nvPr/>
        </p:nvSpPr>
        <p:spPr>
          <a:xfrm>
            <a:off x="5434964" y="1626892"/>
            <a:ext cx="6593088" cy="3766961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u="sng" dirty="0">
                <a:solidFill>
                  <a:schemeClr val="tx1"/>
                </a:solidFill>
              </a:rPr>
              <a:t>PROJECT ACHIEVEMENT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Developed an AI-based Phishing Email Detection System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Compared multiple Machine Learning models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Achieved 98.44% prediction accuracy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Project objective successfully achieved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</a:rPr>
              <a:t>Random Forest Accuracy: 98.44%</a:t>
            </a:r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76347DFC-063C-7820-FCF7-91ACC001F93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857EBD-9ADE-011C-A3BC-64414B99AF0C}"/>
              </a:ext>
            </a:extLst>
          </p:cNvPr>
          <p:cNvSpPr/>
          <p:nvPr/>
        </p:nvSpPr>
        <p:spPr>
          <a:xfrm>
            <a:off x="447040" y="5568898"/>
            <a:ext cx="11581012" cy="901588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2060"/>
                </a:solidFill>
              </a:rPr>
              <a:t>The project objective was successfully achieved by building an AI-based Phishing Email Detection System with high accuracy.</a:t>
            </a:r>
            <a:endParaRPr lang="en-IN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696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F817-F304-B5F4-A484-FBB0A8DF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058815-3CD1-6151-78A7-BDF8F01482C8}"/>
              </a:ext>
            </a:extLst>
          </p:cNvPr>
          <p:cNvSpPr/>
          <p:nvPr/>
        </p:nvSpPr>
        <p:spPr>
          <a:xfrm>
            <a:off x="2936240" y="2203389"/>
            <a:ext cx="6156960" cy="1342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4800" b="1" dirty="0">
                <a:latin typeface="Aptos" panose="020B0004020202020204" pitchFamily="34" charset="0"/>
              </a:rPr>
              <a:t>THANK YOU</a:t>
            </a:r>
            <a:endParaRPr lang="en-US" sz="4800" b="1" dirty="0">
              <a:latin typeface="Aptos" panose="020B0004020202020204" pitchFamily="34" charset="0"/>
            </a:endParaRPr>
          </a:p>
        </p:txBody>
      </p:sp>
      <p:pic>
        <p:nvPicPr>
          <p:cNvPr id="12" name="Image 4">
            <a:extLst>
              <a:ext uri="{FF2B5EF4-FFF2-40B4-BE49-F238E27FC236}">
                <a16:creationId xmlns:a16="http://schemas.microsoft.com/office/drawing/2014/main" id="{A06E3F06-AC81-0CA6-68DA-8B98AB61D45F}"/>
              </a:ext>
            </a:extLst>
          </p:cNvPr>
          <p:cNvPicPr/>
          <p:nvPr/>
        </p:nvPicPr>
        <p:blipFill>
          <a:blip r:embed="rId3" cstate="print">
            <a:alphaModFix amt="5000"/>
          </a:blip>
          <a:stretch>
            <a:fillRect/>
          </a:stretch>
        </p:blipFill>
        <p:spPr>
          <a:xfrm>
            <a:off x="3520758" y="822803"/>
            <a:ext cx="4987924" cy="4582471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D2A96E78-F53C-9620-9E18-C7DB93564CE8}"/>
              </a:ext>
            </a:extLst>
          </p:cNvPr>
          <p:cNvSpPr/>
          <p:nvPr/>
        </p:nvSpPr>
        <p:spPr>
          <a:xfrm>
            <a:off x="-1492491" y="65151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Summer Internship Program in AI &amp; ML 2026 | Indian Institute of Computing and Technology (IICT)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748EE5CD-EF6B-E51F-BACF-90DEA2BF87D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07040" y="77834"/>
            <a:ext cx="1499874" cy="1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879</Words>
  <Application>Microsoft Office PowerPoint</Application>
  <PresentationFormat>Widescreen</PresentationFormat>
  <Paragraphs>151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Wingdings</vt:lpstr>
      <vt:lpstr>Office Theme</vt:lpstr>
      <vt:lpstr>PowerPoint Presentation</vt:lpstr>
      <vt:lpstr>Problem Statement &amp; Project Objective</vt:lpstr>
      <vt:lpstr>Dataset Overview</vt:lpstr>
      <vt:lpstr>DATA PREPROCESSING</vt:lpstr>
      <vt:lpstr>FEATURE ENGINEERING USING NLP </vt:lpstr>
      <vt:lpstr>EXPLORATORY DATA ANALYSIS (EDA) </vt:lpstr>
      <vt:lpstr>MACHINE LEARNING WORKFLOW </vt:lpstr>
      <vt:lpstr>MACHINE LEARNING MODELS</vt:lpstr>
      <vt:lpstr>MODEL PERFORMANCE COMPARISON </vt:lpstr>
      <vt:lpstr>BEST MODEL &amp; FINAL RESULTS </vt:lpstr>
      <vt:lpstr>REAL-WORLD APPLICATIONS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Aakash .</cp:lastModifiedBy>
  <cp:revision>14</cp:revision>
  <dcterms:created xsi:type="dcterms:W3CDTF">2026-07-18T09:46:37Z</dcterms:created>
  <dcterms:modified xsi:type="dcterms:W3CDTF">2026-07-31T19:08:48Z</dcterms:modified>
</cp:coreProperties>
</file>